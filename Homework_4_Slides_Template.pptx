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Open Sans" panose="020B0606030504020204" pitchFamily="34" charset="0"/>
      <p:regular r:id="rId11"/>
      <p:bold r:id="rId12"/>
      <p:italic r:id="rId13"/>
      <p:boldItalic r:id="rId14"/>
    </p:embeddedFont>
    <p:embeddedFont>
      <p:font typeface="PT Sans Narrow" panose="020B0506020203020204" pitchFamily="3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17" d="100"/>
          <a:sy n="117" d="100"/>
        </p:scale>
        <p:origin x="69" y="22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21:12:53.751"/>
    </inkml:context>
    <inkml:brush xml:id="br0">
      <inkml:brushProperty name="width" value="0.035" units="cm"/>
      <inkml:brushProperty name="height" value="0.035" units="cm"/>
      <inkml:brushProperty name="color" value="#E71224"/>
    </inkml:brush>
  </inkml:definitions>
  <inkml:trace contextRef="#ctx0" brushRef="#br0">1181 3134 24575,'37'8'0,"58"-2"0,98-6 0,-88-1 0,-94 1 0,-1-1 0,1 0 0,-1-1 0,1 0 0,-1-1 0,0 0 0,0 0 0,0-1 0,0 0 0,-1-1 0,0 0 0,0-1 0,0 1 0,0-2 0,-1 1 0,0-1 0,9-11 0,-10 11 0,0 0 0,1 1 0,14-10 0,10-8 0,-29 21 0,0 0 0,0 0 0,-1-1 0,0 1 0,0-1 0,0 0 0,0 0 0,0 1 0,-1-1 0,1 0 0,-1-1 0,0 1 0,1-8 0,-1-6 0,-1-33 0,0 50 0,-4-69 0,-4 0 0,-3 1 0,-2 0 0,-29-82 0,-6 13 0,-68-133 0,-23 16 0,-18 11 0,-10-15 0,-7-58 0,105 186 0,-79-137 0,98 171 0,-24-38 0,-128-157 0,199 289 0,1 0 0,-1 0 0,0 0 0,0 0 0,0 0 0,0 1 0,-1-1 0,1 1 0,-1 0 0,1 0 0,-1 0 0,0 0 0,0 1 0,-4-2 0,2 2 0,-1 1 0,1 0 0,0 0 0,0 0 0,-1 0 0,1 1 0,0 0 0,-10 3 0,-4 3 0,0 0 0,1 0 0,0 2 0,0 1 0,1 0 0,0 1 0,1 1 0,-21 18 0,30-22 0,1 0 0,-1 0 0,1 1 0,0 0 0,-10 18 0,5-5 0,-13 35 0,21-42 0,-1 1 0,2-1 0,-2 22 0,2-20 0,0 0 0,-7 24 0,2-18 0,2-1 0,-8 44 0,6-4 0,2 63 0,6-31 0,2 103 0,3-151 0,3-1 0,1 0 0,20 57 0,-3-14 0,-13-36 0,43 151 0,-40-155 0,3-1 0,26 52 0,72 140 0,-91-183 0,-7-21 0,2-1 0,48 62 0,-41-61 0,43 74 0,-56-83 0,1 0 0,1-2 0,40 45 0,72 55 0,-124-119 0,27 25 0,-2 2 0,-1 2 0,-2 0 0,25 41 0,-30-42 0,14 22 0,-19-27 0,1-1 0,29 34 0,-9-13 0,-11-20-1365,-21-20-5461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21:12:58.243"/>
    </inkml:context>
    <inkml:brush xml:id="br0">
      <inkml:brushProperty name="width" value="0.035" units="cm"/>
      <inkml:brushProperty name="height" value="0.035" units="cm"/>
      <inkml:brushProperty name="color" value="#E71224"/>
    </inkml:brush>
  </inkml:definitions>
  <inkml:trace contextRef="#ctx0" brushRef="#br0">469 3007 24575,'170'-144'0,"-125"110"0,-1-2 0,-1-2 0,47-56 0,-45 33 0,-3-3 0,45-91 0,-44 76 0,56-79 0,-69 122 0,1 2 0,2 1 0,64-50 0,-15 13 0,-21 17 0,66-64 0,-111 100 0,-2 0 0,0-1 0,-1 0 0,-1-1 0,17-35 0,-7 11 0,-14 27 0,0-1 0,8-22 0,0-22 0,10-90 0,-10 55 0,-12 61 0,0-1 0,-2 0 0,-6-72 0,-26-104 0,30 210 0,-12-48 0,-1 0 0,-3 1 0,-29-63 0,26 69 0,-45-74 0,47 93 0,-1-1 0,-1 2 0,-43-41 0,55 58 0,-61-50 0,60 50 0,-1 0 0,0 1 0,0 0 0,-1 1 0,1 0 0,-16-4 0,-235-45 0,206 46 0,0 2 0,-101 4 0,144 3 0,-1 0 0,1 0 0,0 1 0,0 1 0,0 0 0,0 0 0,1 1 0,0 0 0,0 1 0,0 0 0,0 1 0,1 0 0,-9 9 0,-12 13 0,1 2 0,-30 41 0,55-66 0,-48 58 0,-47 65 0,84-107 0,1 2 0,1 0 0,-20 50 0,19-34 0,-52 133 0,-27 19 0,81-162 0,2 1 0,1 1 0,-7 46 0,10-45 0,-1 0 0,-2 0 0,-14 35 0,12-44 0,2 0 0,0 1 0,2 1 0,-6 32 0,1 67 0,1-11 0,2-61 0,4-26 0,-2 51 0,7 340 0,1-398 0,0 0 0,1 0 0,1 0 0,1 0 0,0 0 0,2 0 0,0-1 0,14 27 0,128 247 0,-140-282 0,0 0 0,0 0 0,1-1 0,12 12 0,13 13 0,-28-28 0,1 0 0,0-1 0,0 0 0,1 0 0,0-1 0,11 7 0,-7-6 0,-1 1 0,12 10 0,-19-13-170,0 1-1,-1-1 0,1 1 1,-1-1-1,0 1 0,-1 0 1,3 6-1,0-1-6655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21:13:02.971"/>
    </inkml:context>
    <inkml:brush xml:id="br0">
      <inkml:brushProperty name="width" value="0.035" units="cm"/>
      <inkml:brushProperty name="height" value="0.035" units="cm"/>
      <inkml:brushProperty name="color" value="#E71224"/>
    </inkml:brush>
  </inkml:definitions>
  <inkml:trace contextRef="#ctx0" brushRef="#br0">2842 41 24575,'-10'1'0,"1"0"0,0 1 0,-1 0 0,1 0 0,-10 5 0,-22 5 0,-16-5 0,0-1 0,-110-5 0,92-3 0,-546 2 0,427 13 0,33-1 0,-334-10 0,258-4 0,200 4 0,1 2 0,-37 8 0,-11 1 0,74-12 0,-106 18 0,102-16 0,1 1 0,-1 1 0,1 0 0,0 1 0,0 0 0,-15 11 0,-41 23 0,42-25 0,-26 19 0,48-30 0,1 1 0,-1-1 0,1 1 0,0 0 0,0 0 0,0 1 0,1-1 0,0 1 0,0 0 0,0 0 0,1 0 0,0 0 0,0 0 0,0 0 0,1 0 0,-1 8 0,-1 13 0,2-1 0,3 43 0,-2-51 0,1-3 0,1-1 0,0 0 0,1 0 0,0 0 0,2 0 0,-1 0 0,1-1 0,1 0 0,1 0 0,-1-1 0,2 1 0,0-1 0,0-1 0,1 0 0,1 0 0,0 0 0,0-2 0,1 1 0,13 8 0,7 4 0,1-2 0,44 20 0,74 24 0,-46-20 0,-7 0 0,-31-12 0,102 34 0,236 22 0,-184-46 0,182 24 0,-216-39 0,417 50 0,-370-45 0,-23-2 0,236-3 0,4-30 0,-363 2 0,-41 0 0,34 1 0,160-22 0,-190 10 0,63-24 0,-48 15 0,-14 5 0,-1-2 0,-1-2 0,66-38 0,-110 55 0,0-1 0,0 0 0,0 0 0,-1-1 0,1 1 0,-1-1 0,0 0 0,-1 0 0,1 0 0,-1-1 0,0 1 0,-1-1 0,1 0 0,-1 0 0,0 0 0,0 0 0,1-11 0,0-9 0,-1 1 0,-1-1 0,-3-28 0,0 14 0,1 1 0,-2-1 0,-12-61 0,9 77 0,-1-1 0,-1 1 0,-1 0 0,-1 1 0,-16-26 0,-4-1 0,-4 2 0,-1 1 0,-2 1 0,-2 2 0,-2 2 0,-2 2 0,-2 2 0,-1 2 0,-54-33 0,68 51 0,0 2 0,0 1 0,-2 2 0,1 1 0,-2 2 0,-52-10 0,17 7 0,-283-49 0,250 49 0,-153 0 0,-150 4 0,-35 4 0,254 7 0,-113-2 0,294 0-273,1 0 0,0 1 0,-1 0 0,-6 2 0,2 0-6553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21:13:09.028"/>
    </inkml:context>
    <inkml:brush xml:id="br0">
      <inkml:brushProperty name="width" value="0.035" units="cm"/>
      <inkml:brushProperty name="height" value="0.035" units="cm"/>
      <inkml:brushProperty name="color" value="#E71224"/>
    </inkml:brush>
  </inkml:definitions>
  <inkml:trace contextRef="#ctx0" brushRef="#br0">5979 2276 24575,'0'-3'0,"0"0"0,0-1 0,-1 1 0,1 0 0,-1-1 0,0 1 0,0 0 0,0 0 0,0 0 0,0 0 0,-1 0 0,-3-6 0,1 5 0,0-1 0,0 1 0,0 0 0,-1 0 0,1 1 0,-8-5 0,-21-11 0,0 2 0,-51-19 0,-5-3 0,-19-15 0,-310-132 0,371 170 0,-288-90 0,235 74 0,13 3 0,-258-85 0,52 16 0,-47 3 0,-15-5 0,207 60 0,-236-36 0,79 28 0,285 44 0,1 0 0,-1-2 0,-29-12 0,-51-31 0,31 13 0,-245-120 0,-55-28 0,-104-68 0,187 100 0,199 108 0,-15-4 0,-1 3 0,-125-35 0,211 74 0,14 5 0,-1-1 0,1 1 0,0 0 0,-1 0 0,1 1 0,-1-1 0,-5 0 0,7 2 0,1-1 0,0 0 0,-1 1 0,1-1 0,0 1 0,0-1 0,-1 1 0,1 0 0,0-1 0,0 1 0,0 0 0,0 0 0,0 0 0,0 0 0,0 0 0,0 0 0,0 0 0,0 0 0,1 0 0,-1 0 0,0 0 0,1 1 0,-1-1 0,0 2 0,-10 23 0,-16 36 0,-23 82 0,44-123 0,1 0 0,1 0 0,1 1 0,1-1 0,1 1 0,1-1 0,1 1 0,5 26 0,0-20 0,1 1 0,2-1 0,1-1 0,2 0 0,22 41 0,89 121 0,-72-116 0,215 295 0,-233-325 0,-3-2 0,2-1 0,2-2 0,60 55 0,-17-38 0,94 54 0,-68-46 0,174 88 0,11-24 0,-93-36 0,-99-53 0,120 31 0,349 37 0,-288-61 0,402 71 0,-221-39 0,-280-49 0,2-7 0,186-3 0,-366-18 0,23 0 0,-1 0 0,1-2 0,-1 0 0,0-2 0,30-7 0,-37 7 0,-1 1 0,1 1 0,0 0 0,0 1 0,19 1 0,-18 0 0,0 0 0,0-1 0,0 0 0,26-7 0,104-43 0,-117 41 0,1 0 0,0 3 0,61-9 0,94 5 0,-155 10 0,-25 0 0,0 1 0,0-1 0,1 0 0,-1-1 0,0 1 0,-1-1 0,1 0 0,0 0 0,0-1 0,-1 1 0,1-1 0,-1 0 0,0 0 0,0-1 0,0 1 0,4-6 0,-1 3 0,1-1 0,-1 1 0,12-7 0,61-22 0,-48 17 247,36-18-1859,-54 31-5214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b48426d89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b48426d89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b1ceb20a80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b1ceb20a80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bf8a1053c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bf8a1053c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bf8a1053c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bf8a1053c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bf8a1053c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bf8a1053c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bf8a1053c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bf8a1053c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bf8a1053c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bf8a1053c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ustomXml" Target="../ink/ink2.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gif"/></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t>My ECE 157B/272B </a:t>
            </a:r>
            <a:br>
              <a:rPr lang="en"/>
            </a:br>
            <a:r>
              <a:rPr lang="en"/>
              <a:t>Homework 4</a:t>
            </a:r>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Submitted By Edward Ding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172175"/>
            <a:ext cx="8520600" cy="930551"/>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900" dirty="0"/>
              <a:t>1. </a:t>
            </a:r>
            <a:r>
              <a:rPr lang="en" sz="1900" b="0" dirty="0"/>
              <a:t>The provided code uses a "Replay Memory" to store the agent's experiences and learn from that. </a:t>
            </a:r>
            <a:r>
              <a:rPr lang="en" sz="1900" dirty="0"/>
              <a:t>What is the purpose of the Replay Memory? </a:t>
            </a:r>
            <a:r>
              <a:rPr lang="en" sz="1900" b="0" dirty="0"/>
              <a:t>Why is it important to use a Replay Memory instead of just learning from the agent's most recent experiences?</a:t>
            </a:r>
            <a:endParaRPr b="0" dirty="0"/>
          </a:p>
        </p:txBody>
      </p:sp>
      <p:sp>
        <p:nvSpPr>
          <p:cNvPr id="73" name="Google Shape;73;p14"/>
          <p:cNvSpPr txBox="1">
            <a:spLocks noGrp="1"/>
          </p:cNvSpPr>
          <p:nvPr>
            <p:ph type="body" idx="1"/>
          </p:nvPr>
        </p:nvSpPr>
        <p:spPr>
          <a:xfrm>
            <a:off x="311700" y="1266325"/>
            <a:ext cx="8520600" cy="3705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The purpose of the replay memory is to act as a buffer to store past experiences or transitions from the model’s interaction with the environment. It allows us to reuse this data later. The main benefit of using something like this is to make sure that the transitions within each batch are decorrelated, which greatly stabilizes and improves the training process. If a model just relearns from most recent experiences, the training data is not independent, which can lead to unstable learning.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227411" y="240950"/>
            <a:ext cx="8689177" cy="71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2. Submit the hyperparameters used in your final model. </a:t>
            </a:r>
            <a:r>
              <a:rPr lang="en" sz="1900" b="0" dirty="0"/>
              <a:t>Also make a note if you had other training attempts that didn't work out, though you are not required to submit their hyperparameters.</a:t>
            </a:r>
            <a:endParaRPr sz="1900" b="0" dirty="0"/>
          </a:p>
        </p:txBody>
      </p:sp>
      <p:sp>
        <p:nvSpPr>
          <p:cNvPr id="79" name="Google Shape;79;p15"/>
          <p:cNvSpPr txBox="1">
            <a:spLocks noGrp="1"/>
          </p:cNvSpPr>
          <p:nvPr>
            <p:ph type="body" idx="1"/>
          </p:nvPr>
        </p:nvSpPr>
        <p:spPr>
          <a:xfrm>
            <a:off x="311700" y="1163650"/>
            <a:ext cx="8520600" cy="3738900"/>
          </a:xfrm>
          <a:prstGeom prst="rect">
            <a:avLst/>
          </a:prstGeom>
        </p:spPr>
        <p:txBody>
          <a:bodyPr spcFirstLastPara="1" wrap="square" lIns="91425" tIns="91425" rIns="91425" bIns="91425" anchor="t" anchorCtr="0">
            <a:normAutofit fontScale="85000" lnSpcReduction="10000"/>
          </a:bodyPr>
          <a:lstStyle/>
          <a:p>
            <a:pPr>
              <a:lnSpc>
                <a:spcPts val="1425"/>
              </a:lnSpc>
              <a:buNone/>
            </a:pPr>
            <a:r>
              <a:rPr lang="en-US" b="0" dirty="0">
                <a:solidFill>
                  <a:srgbClr val="008000"/>
                </a:solidFill>
                <a:effectLst/>
                <a:latin typeface="Courier New" panose="02070309020205020404" pitchFamily="49" charset="0"/>
              </a:rPr>
              <a:t># BATCH_SIZE is the number of transitions sampled from the replay buffer</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GAMMA is the discount factor as mentioned in the previous section</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EPS_START is the starting value of epsilon</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EPS_END is the final value of epsilon</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EPS_DECAY controls the rate of exponential decay of epsilon, higher means a slower decay</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TAU is the update rate of the target network</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LR is the learning rate of the ``</a:t>
            </a:r>
            <a:r>
              <a:rPr lang="en-US" b="0" dirty="0" err="1">
                <a:solidFill>
                  <a:srgbClr val="008000"/>
                </a:solidFill>
                <a:effectLst/>
                <a:latin typeface="Courier New" panose="02070309020205020404" pitchFamily="49" charset="0"/>
              </a:rPr>
              <a:t>AdamW</a:t>
            </a:r>
            <a:r>
              <a:rPr lang="en-US" b="0" dirty="0">
                <a:solidFill>
                  <a:srgbClr val="008000"/>
                </a:solidFill>
                <a:effectLst/>
                <a:latin typeface="Courier New" panose="02070309020205020404" pitchFamily="49" charset="0"/>
              </a:rPr>
              <a:t>`` optimizer</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BATCH_SIZE = </a:t>
            </a:r>
            <a:r>
              <a:rPr lang="en-US" b="0" dirty="0">
                <a:solidFill>
                  <a:srgbClr val="116644"/>
                </a:solidFill>
                <a:effectLst/>
                <a:latin typeface="Courier New" panose="02070309020205020404" pitchFamily="49" charset="0"/>
              </a:rPr>
              <a:t>128</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GAMMA = </a:t>
            </a:r>
            <a:r>
              <a:rPr lang="en-US" b="0" dirty="0">
                <a:solidFill>
                  <a:srgbClr val="116644"/>
                </a:solidFill>
                <a:effectLst/>
                <a:latin typeface="Courier New" panose="02070309020205020404" pitchFamily="49" charset="0"/>
              </a:rPr>
              <a:t>0.99</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EPS_START = </a:t>
            </a:r>
            <a:r>
              <a:rPr lang="en-US" b="0" dirty="0">
                <a:solidFill>
                  <a:srgbClr val="116644"/>
                </a:solidFill>
                <a:effectLst/>
                <a:latin typeface="Courier New" panose="02070309020205020404" pitchFamily="49" charset="0"/>
              </a:rPr>
              <a:t>0.9</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EPS_END = </a:t>
            </a:r>
            <a:r>
              <a:rPr lang="en-US" b="0" dirty="0">
                <a:solidFill>
                  <a:srgbClr val="116644"/>
                </a:solidFill>
                <a:effectLst/>
                <a:latin typeface="Courier New" panose="02070309020205020404" pitchFamily="49" charset="0"/>
              </a:rPr>
              <a:t>0.05</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EPS_DECAY = </a:t>
            </a:r>
            <a:r>
              <a:rPr lang="en-US" b="0" dirty="0">
                <a:solidFill>
                  <a:srgbClr val="116644"/>
                </a:solidFill>
                <a:effectLst/>
                <a:latin typeface="Courier New" panose="02070309020205020404" pitchFamily="49" charset="0"/>
              </a:rPr>
              <a:t>4000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TAU = </a:t>
            </a:r>
            <a:r>
              <a:rPr lang="en-US" b="0" dirty="0">
                <a:solidFill>
                  <a:srgbClr val="116644"/>
                </a:solidFill>
                <a:effectLst/>
                <a:latin typeface="Courier New" panose="02070309020205020404" pitchFamily="49" charset="0"/>
              </a:rPr>
              <a:t>0.005</a:t>
            </a:r>
            <a:endParaRPr lang="en-US" b="0" dirty="0">
              <a:solidFill>
                <a:srgbClr val="000000"/>
              </a:solidFill>
              <a:effectLst/>
              <a:latin typeface="Courier New" panose="02070309020205020404" pitchFamily="49" charset="0"/>
            </a:endParaRPr>
          </a:p>
          <a:p>
            <a:pPr>
              <a:lnSpc>
                <a:spcPts val="1425"/>
              </a:lnSpc>
            </a:pPr>
            <a:r>
              <a:rPr lang="en-US" b="0" dirty="0">
                <a:solidFill>
                  <a:srgbClr val="000000"/>
                </a:solidFill>
                <a:effectLst/>
                <a:latin typeface="Courier New" panose="02070309020205020404" pitchFamily="49" charset="0"/>
              </a:rPr>
              <a:t>LR = </a:t>
            </a:r>
            <a:r>
              <a:rPr lang="en-US" b="0" dirty="0">
                <a:solidFill>
                  <a:srgbClr val="116644"/>
                </a:solidFill>
                <a:effectLst/>
                <a:latin typeface="Courier New" panose="02070309020205020404" pitchFamily="49" charset="0"/>
              </a:rPr>
              <a:t>1e-4</a:t>
            </a:r>
          </a:p>
          <a:p>
            <a:pPr>
              <a:lnSpc>
                <a:spcPts val="1425"/>
              </a:lnSpc>
            </a:pPr>
            <a:endParaRPr lang="en-US" dirty="0">
              <a:solidFill>
                <a:srgbClr val="116644"/>
              </a:solidFill>
              <a:latin typeface="Courier New" panose="02070309020205020404" pitchFamily="49" charset="0"/>
            </a:endParaRPr>
          </a:p>
          <a:p>
            <a:pPr>
              <a:lnSpc>
                <a:spcPts val="1425"/>
              </a:lnSpc>
            </a:pPr>
            <a:endParaRPr lang="en-US" dirty="0">
              <a:solidFill>
                <a:srgbClr val="000000"/>
              </a:solidFill>
              <a:latin typeface="Courier New" panose="02070309020205020404" pitchFamily="49" charset="0"/>
            </a:endParaRPr>
          </a:p>
          <a:p>
            <a:pPr marL="114300" indent="0">
              <a:lnSpc>
                <a:spcPts val="1425"/>
              </a:lnSpc>
              <a:buNone/>
            </a:pPr>
            <a:r>
              <a:rPr lang="en-US" b="0" dirty="0">
                <a:solidFill>
                  <a:srgbClr val="000000"/>
                </a:solidFill>
                <a:effectLst/>
                <a:latin typeface="Courier New" panose="02070309020205020404" pitchFamily="49" charset="0"/>
              </a:rPr>
              <a:t>These hyperparameters worked out pretty well, so I didn’t change them. </a:t>
            </a:r>
            <a:endParaRPr lang="en-US" b="0" dirty="0">
              <a:solidFill>
                <a:srgbClr val="116644"/>
              </a:solidFill>
              <a:effectLst/>
              <a:latin typeface="Courier New" panose="02070309020205020404" pitchFamily="49"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0"/>
            <a:ext cx="8520600" cy="185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dirty="0"/>
              <a:t>3. Submit the training graphs for your final model. </a:t>
            </a:r>
            <a:r>
              <a:rPr lang="en" sz="1800" b="0" dirty="0"/>
              <a:t>These should show the reward and durations achieved in each episode. If you had other training attempts that didn't work out, you may include their graphs as well, though you are not required to do so. Looking at your final model's training graph, </a:t>
            </a:r>
            <a:r>
              <a:rPr lang="en" sz="1800" dirty="0"/>
              <a:t>Mark the eras where the model appears to have differing behaviors. </a:t>
            </a:r>
            <a:r>
              <a:rPr lang="en" sz="1800" b="0" dirty="0"/>
              <a:t>(E.g. if its average is slowly increasing, then plateaus, or if it's smooth then starts bouncing up and down, sometimes failing.)</a:t>
            </a:r>
            <a:r>
              <a:rPr lang="en" sz="1800" dirty="0"/>
              <a:t> About how many eras do you see? How long did it take the model to first really learn to play the game?</a:t>
            </a:r>
            <a:endParaRPr sz="1800" b="0" dirty="0"/>
          </a:p>
        </p:txBody>
      </p:sp>
      <p:sp>
        <p:nvSpPr>
          <p:cNvPr id="85" name="Google Shape;85;p16"/>
          <p:cNvSpPr txBox="1">
            <a:spLocks noGrp="1"/>
          </p:cNvSpPr>
          <p:nvPr>
            <p:ph type="body" idx="1"/>
          </p:nvPr>
        </p:nvSpPr>
        <p:spPr>
          <a:xfrm>
            <a:off x="5177925" y="1859100"/>
            <a:ext cx="3654300" cy="30435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1200"/>
              </a:spcAft>
              <a:buNone/>
            </a:pPr>
            <a:r>
              <a:rPr lang="en-US" dirty="0"/>
              <a:t>Since our model needs to average around 200 reward points to be considered robust, we see it clearly reach that threshold relatively quickly. Although it might appear at first glance that the rewards plateau, we see that there’s still work being done as there’s a slight downward trend for the episode duration, meaning that the model gets better at landing the spacecraft in a faster period of time.</a:t>
            </a:r>
            <a:endParaRPr dirty="0"/>
          </a:p>
        </p:txBody>
      </p:sp>
      <p:sp>
        <p:nvSpPr>
          <p:cNvPr id="86" name="Google Shape;86;p16"/>
          <p:cNvSpPr/>
          <p:nvPr/>
        </p:nvSpPr>
        <p:spPr>
          <a:xfrm>
            <a:off x="311700" y="1941900"/>
            <a:ext cx="4758000" cy="2960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lang="en-US">
              <a:latin typeface="Open Sans"/>
              <a:ea typeface="Open Sans"/>
              <a:cs typeface="Open Sans"/>
              <a:sym typeface="Open Sans"/>
            </a:endParaRPr>
          </a:p>
        </p:txBody>
      </p:sp>
      <p:pic>
        <p:nvPicPr>
          <p:cNvPr id="3" name="Picture 2" descr="A graph of a graph showing a number of different colored lines&#10;&#10;AI-generated content may be incorrect.">
            <a:extLst>
              <a:ext uri="{FF2B5EF4-FFF2-40B4-BE49-F238E27FC236}">
                <a16:creationId xmlns:a16="http://schemas.microsoft.com/office/drawing/2014/main" id="{DB924BC6-A42E-EEFA-5731-A63701ECF7A8}"/>
              </a:ext>
            </a:extLst>
          </p:cNvPr>
          <p:cNvPicPr>
            <a:picLocks noChangeAspect="1"/>
          </p:cNvPicPr>
          <p:nvPr/>
        </p:nvPicPr>
        <p:blipFill>
          <a:blip r:embed="rId3"/>
          <a:stretch>
            <a:fillRect/>
          </a:stretch>
        </p:blipFill>
        <p:spPr>
          <a:xfrm>
            <a:off x="700255" y="1959900"/>
            <a:ext cx="3871745" cy="2924700"/>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77AFB30-1AA3-E71A-E357-EA597CC18662}"/>
                  </a:ext>
                </a:extLst>
              </p14:cNvPr>
              <p14:cNvContentPartPr/>
              <p14:nvPr/>
            </p14:nvContentPartPr>
            <p14:xfrm>
              <a:off x="1506174" y="2095435"/>
              <a:ext cx="683280" cy="1134360"/>
            </p14:xfrm>
          </p:contentPart>
        </mc:Choice>
        <mc:Fallback>
          <p:pic>
            <p:nvPicPr>
              <p:cNvPr id="4" name="Ink 3">
                <a:extLst>
                  <a:ext uri="{FF2B5EF4-FFF2-40B4-BE49-F238E27FC236}">
                    <a16:creationId xmlns:a16="http://schemas.microsoft.com/office/drawing/2014/main" id="{977AFB30-1AA3-E71A-E357-EA597CC18662}"/>
                  </a:ext>
                </a:extLst>
              </p:cNvPr>
              <p:cNvPicPr/>
              <p:nvPr/>
            </p:nvPicPr>
            <p:blipFill>
              <a:blip r:embed="rId5"/>
              <a:stretch>
                <a:fillRect/>
              </a:stretch>
            </p:blipFill>
            <p:spPr>
              <a:xfrm>
                <a:off x="1500054" y="2089315"/>
                <a:ext cx="695520" cy="1146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13BD9C41-2093-A7A9-468B-8868BC6BE4BC}"/>
                  </a:ext>
                </a:extLst>
              </p14:cNvPr>
              <p14:cNvContentPartPr/>
              <p14:nvPr/>
            </p14:nvContentPartPr>
            <p14:xfrm>
              <a:off x="965094" y="3522115"/>
              <a:ext cx="668880" cy="1082520"/>
            </p14:xfrm>
          </p:contentPart>
        </mc:Choice>
        <mc:Fallback>
          <p:pic>
            <p:nvPicPr>
              <p:cNvPr id="5" name="Ink 4">
                <a:extLst>
                  <a:ext uri="{FF2B5EF4-FFF2-40B4-BE49-F238E27FC236}">
                    <a16:creationId xmlns:a16="http://schemas.microsoft.com/office/drawing/2014/main" id="{13BD9C41-2093-A7A9-468B-8868BC6BE4BC}"/>
                  </a:ext>
                </a:extLst>
              </p:cNvPr>
              <p:cNvPicPr/>
              <p:nvPr/>
            </p:nvPicPr>
            <p:blipFill>
              <a:blip r:embed="rId7"/>
              <a:stretch>
                <a:fillRect/>
              </a:stretch>
            </p:blipFill>
            <p:spPr>
              <a:xfrm>
                <a:off x="958974" y="3515995"/>
                <a:ext cx="681120" cy="1094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B47F3481-01DC-524D-B7ED-954939458299}"/>
                  </a:ext>
                </a:extLst>
              </p14:cNvPr>
              <p14:cNvContentPartPr/>
              <p14:nvPr/>
            </p14:nvContentPartPr>
            <p14:xfrm>
              <a:off x="2886414" y="3465595"/>
              <a:ext cx="1814040" cy="543600"/>
            </p14:xfrm>
          </p:contentPart>
        </mc:Choice>
        <mc:Fallback>
          <p:pic>
            <p:nvPicPr>
              <p:cNvPr id="6" name="Ink 5">
                <a:extLst>
                  <a:ext uri="{FF2B5EF4-FFF2-40B4-BE49-F238E27FC236}">
                    <a16:creationId xmlns:a16="http://schemas.microsoft.com/office/drawing/2014/main" id="{B47F3481-01DC-524D-B7ED-954939458299}"/>
                  </a:ext>
                </a:extLst>
              </p:cNvPr>
              <p:cNvPicPr/>
              <p:nvPr/>
            </p:nvPicPr>
            <p:blipFill>
              <a:blip r:embed="rId9"/>
              <a:stretch>
                <a:fillRect/>
              </a:stretch>
            </p:blipFill>
            <p:spPr>
              <a:xfrm>
                <a:off x="2880294" y="3459475"/>
                <a:ext cx="1826280" cy="555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BA3178C2-32E7-FE8F-F607-9E034C6A3793}"/>
                  </a:ext>
                </a:extLst>
              </p14:cNvPr>
              <p14:cNvContentPartPr/>
              <p14:nvPr/>
            </p14:nvContentPartPr>
            <p14:xfrm>
              <a:off x="2452254" y="2306395"/>
              <a:ext cx="2200320" cy="965160"/>
            </p14:xfrm>
          </p:contentPart>
        </mc:Choice>
        <mc:Fallback>
          <p:pic>
            <p:nvPicPr>
              <p:cNvPr id="7" name="Ink 6">
                <a:extLst>
                  <a:ext uri="{FF2B5EF4-FFF2-40B4-BE49-F238E27FC236}">
                    <a16:creationId xmlns:a16="http://schemas.microsoft.com/office/drawing/2014/main" id="{BA3178C2-32E7-FE8F-F607-9E034C6A3793}"/>
                  </a:ext>
                </a:extLst>
              </p:cNvPr>
              <p:cNvPicPr/>
              <p:nvPr/>
            </p:nvPicPr>
            <p:blipFill>
              <a:blip r:embed="rId11"/>
              <a:stretch>
                <a:fillRect/>
              </a:stretch>
            </p:blipFill>
            <p:spPr>
              <a:xfrm>
                <a:off x="2446134" y="2300275"/>
                <a:ext cx="2212560" cy="9774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311700" y="240950"/>
            <a:ext cx="8520600" cy="71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4a.</a:t>
            </a:r>
            <a:r>
              <a:rPr lang="en" sz="1900" b="0" dirty="0"/>
              <a:t> Review the videos of your agent playing the game. </a:t>
            </a:r>
            <a:r>
              <a:rPr lang="en" sz="1900" dirty="0"/>
              <a:t>List behaviors that you see, and when they appear</a:t>
            </a:r>
            <a:r>
              <a:rPr lang="en" sz="1900" b="0" dirty="0"/>
              <a:t>. (Strategies, mistakes...)</a:t>
            </a:r>
            <a:endParaRPr sz="1900" b="0" dirty="0"/>
          </a:p>
        </p:txBody>
      </p:sp>
      <p:sp>
        <p:nvSpPr>
          <p:cNvPr id="92" name="Google Shape;92;p17"/>
          <p:cNvSpPr txBox="1">
            <a:spLocks noGrp="1"/>
          </p:cNvSpPr>
          <p:nvPr>
            <p:ph type="body" idx="1"/>
          </p:nvPr>
        </p:nvSpPr>
        <p:spPr>
          <a:xfrm>
            <a:off x="311700" y="1163650"/>
            <a:ext cx="8520600" cy="37389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 dirty="0"/>
              <a:t>At the beg</a:t>
            </a:r>
            <a:r>
              <a:rPr lang="en-US" dirty="0"/>
              <a:t>in</a:t>
            </a:r>
            <a:r>
              <a:rPr lang="en" dirty="0"/>
              <a:t>ning, the Lunar Lander struggled with even controlling lateral movement; during the first trial, it would move all the way to the left of the screen and fail the test. </a:t>
            </a:r>
          </a:p>
          <a:p>
            <a:pPr marL="0" lvl="0" indent="0" algn="l" rtl="0">
              <a:spcBef>
                <a:spcPts val="0"/>
              </a:spcBef>
              <a:spcAft>
                <a:spcPts val="1200"/>
              </a:spcAft>
              <a:buNone/>
            </a:pPr>
            <a:r>
              <a:rPr lang="en" dirty="0"/>
              <a:t>The Lunar Lander had trouble figuring out when to turn off its thrusters; sometimes even after landing between the two yellow flags it would still continue burning its thrusters at a lower power, extending the duration of the video. </a:t>
            </a:r>
          </a:p>
          <a:p>
            <a:pPr marL="0" lvl="0" indent="0" algn="l" rtl="0">
              <a:spcBef>
                <a:spcPts val="0"/>
              </a:spcBef>
              <a:spcAft>
                <a:spcPts val="1200"/>
              </a:spcAft>
              <a:buNone/>
            </a:pPr>
            <a:r>
              <a:rPr lang="en" dirty="0"/>
              <a:t>The Lander would also sometimes tip over from too much lateral thrust, though the model quickly learned not to do this. </a:t>
            </a:r>
          </a:p>
          <a:p>
            <a:pPr marL="0" lvl="0" indent="0" algn="l" rtl="0">
              <a:spcBef>
                <a:spcPts val="0"/>
              </a:spcBef>
              <a:spcAft>
                <a:spcPts val="1200"/>
              </a:spcAft>
              <a:buNone/>
            </a:pPr>
            <a:r>
              <a:rPr lang="en-US" dirty="0"/>
              <a:t>A good run had the Lander descend for a certain distance and then stop, then descend again, self-correcting for mistakes along the way.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311700" y="240950"/>
            <a:ext cx="8520600" cy="71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4b.</a:t>
            </a:r>
            <a:r>
              <a:rPr lang="en" sz="1900" b="0" dirty="0"/>
              <a:t> Review the videos of your agent playing the game. </a:t>
            </a:r>
            <a:r>
              <a:rPr lang="en" sz="1900" dirty="0"/>
              <a:t>Does the agent eventually learn to play the game well, or is it too reckless or too cautious?</a:t>
            </a:r>
            <a:endParaRPr sz="1900" b="0" dirty="0"/>
          </a:p>
        </p:txBody>
      </p:sp>
      <p:sp>
        <p:nvSpPr>
          <p:cNvPr id="98" name="Google Shape;98;p18"/>
          <p:cNvSpPr txBox="1">
            <a:spLocks noGrp="1"/>
          </p:cNvSpPr>
          <p:nvPr>
            <p:ph type="body" idx="1"/>
          </p:nvPr>
        </p:nvSpPr>
        <p:spPr>
          <a:xfrm>
            <a:off x="311700" y="1163650"/>
            <a:ext cx="8443194" cy="3738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The model/agent ranged between recklessness and cautiousness when playing the game; however, it generally did worse when it was trying to land too fast as it would cause the lander to go way off target, or drop like a rock. Then again, if it was too conservative it would take way too long for the lander to land, even if it landed in the correct spot. By the end of the 600 epochs the model found a good balance between boldness and caution, maybe leaning towards caution. I would say that it eventually does learn how to play the game decently well.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240950"/>
            <a:ext cx="8520600" cy="71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4c. </a:t>
            </a:r>
            <a:r>
              <a:rPr lang="en" sz="1900" b="0" dirty="0"/>
              <a:t>Review the videos of your agent playing the game. </a:t>
            </a:r>
            <a:r>
              <a:rPr lang="en" sz="1900" dirty="0"/>
              <a:t>Do the appearance and disappearance of behaviors in the videos match the eras you marked in the training graph?</a:t>
            </a:r>
            <a:endParaRPr sz="1900" dirty="0"/>
          </a:p>
        </p:txBody>
      </p:sp>
      <p:sp>
        <p:nvSpPr>
          <p:cNvPr id="104" name="Google Shape;104;p19"/>
          <p:cNvSpPr txBox="1">
            <a:spLocks noGrp="1"/>
          </p:cNvSpPr>
          <p:nvPr>
            <p:ph type="body" idx="1"/>
          </p:nvPr>
        </p:nvSpPr>
        <p:spPr>
          <a:xfrm>
            <a:off x="311700" y="1163650"/>
            <a:ext cx="5364389" cy="3738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en" dirty="0"/>
              <a:t>Yes they roughly do; the top GIF is an example of a near-perfect run, where the model was able to land the spacecraft within a short period of time and quite gently as well. This corresponds to</a:t>
            </a:r>
            <a:r>
              <a:rPr lang="en-US" dirty="0"/>
              <a:t> t</a:t>
            </a:r>
            <a:r>
              <a:rPr lang="en" dirty="0"/>
              <a:t>he periods in the training graph where there’s a plateau when it comes to a low episode duration and a high reward. The bottom GIF is an example of the opposite behavior that’s also present, with</a:t>
            </a:r>
            <a:r>
              <a:rPr lang="en-US" dirty="0"/>
              <a:t> t</a:t>
            </a:r>
            <a:r>
              <a:rPr lang="en" dirty="0"/>
              <a:t>he model struggling to get the lander between the two flags within a reasonable amount of time. </a:t>
            </a:r>
            <a:endParaRPr dirty="0"/>
          </a:p>
        </p:txBody>
      </p:sp>
      <p:pic>
        <p:nvPicPr>
          <p:cNvPr id="3" name="Picture 2" descr="A video game of a purple tent and yellow flags&#10;&#10;AI-generated content may be incorrect.">
            <a:extLst>
              <a:ext uri="{FF2B5EF4-FFF2-40B4-BE49-F238E27FC236}">
                <a16:creationId xmlns:a16="http://schemas.microsoft.com/office/drawing/2014/main" id="{BF46FF8F-3FA0-A5F8-2853-F0B1A7707D2F}"/>
              </a:ext>
            </a:extLst>
          </p:cNvPr>
          <p:cNvPicPr>
            <a:picLocks noChangeAspect="1"/>
          </p:cNvPicPr>
          <p:nvPr/>
        </p:nvPicPr>
        <p:blipFill>
          <a:blip r:embed="rId3"/>
          <a:stretch>
            <a:fillRect/>
          </a:stretch>
        </p:blipFill>
        <p:spPr>
          <a:xfrm>
            <a:off x="6026286" y="959451"/>
            <a:ext cx="2940183" cy="1960122"/>
          </a:xfrm>
          <a:prstGeom prst="rect">
            <a:avLst/>
          </a:prstGeom>
        </p:spPr>
      </p:pic>
      <p:pic>
        <p:nvPicPr>
          <p:cNvPr id="5" name="Picture 4" descr="A video game with a purple object and yellow flags">
            <a:extLst>
              <a:ext uri="{FF2B5EF4-FFF2-40B4-BE49-F238E27FC236}">
                <a16:creationId xmlns:a16="http://schemas.microsoft.com/office/drawing/2014/main" id="{C4158A75-8B3D-B66A-F6CF-7E91F10ACB21}"/>
              </a:ext>
            </a:extLst>
          </p:cNvPr>
          <p:cNvPicPr>
            <a:picLocks noChangeAspect="1"/>
          </p:cNvPicPr>
          <p:nvPr/>
        </p:nvPicPr>
        <p:blipFill>
          <a:blip r:embed="rId4"/>
          <a:stretch>
            <a:fillRect/>
          </a:stretch>
        </p:blipFill>
        <p:spPr>
          <a:xfrm>
            <a:off x="6026285" y="2942428"/>
            <a:ext cx="2940184" cy="19601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41075"/>
            <a:ext cx="8520600" cy="10072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dirty="0"/>
              <a:t>5. Submit the evaluation duration and reward histograms of your final model, with their means marked. Does the model's policy appear to be consistent, or does it still struggle with the random starting conditions?</a:t>
            </a:r>
            <a:endParaRPr sz="1900" dirty="0"/>
          </a:p>
        </p:txBody>
      </p:sp>
      <p:sp>
        <p:nvSpPr>
          <p:cNvPr id="110" name="Google Shape;110;p20"/>
          <p:cNvSpPr txBox="1">
            <a:spLocks noGrp="1"/>
          </p:cNvSpPr>
          <p:nvPr>
            <p:ph type="body" idx="1"/>
          </p:nvPr>
        </p:nvSpPr>
        <p:spPr>
          <a:xfrm>
            <a:off x="311700" y="1377125"/>
            <a:ext cx="2242800" cy="35253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1200"/>
              </a:spcAft>
              <a:buNone/>
            </a:pPr>
            <a:r>
              <a:rPr lang="en" dirty="0"/>
              <a:t>T</a:t>
            </a:r>
            <a:r>
              <a:rPr lang="en-US" dirty="0"/>
              <a:t>he</a:t>
            </a:r>
            <a:r>
              <a:rPr lang="en" dirty="0"/>
              <a:t> model’s policy appears to be very consistent, as there’s a clear grouping between 200 and 300 for duration. Additionally, the reward seemst o be clustered around the 6k-7k range, but with less clear of a correlation, indicating that there might be still a little bit of randomless that leaks into the model’s landing behavior. </a:t>
            </a:r>
            <a:endParaRPr dirty="0"/>
          </a:p>
        </p:txBody>
      </p:sp>
      <p:sp>
        <p:nvSpPr>
          <p:cNvPr id="111" name="Google Shape;111;p20"/>
          <p:cNvSpPr/>
          <p:nvPr/>
        </p:nvSpPr>
        <p:spPr>
          <a:xfrm>
            <a:off x="2635936" y="1277225"/>
            <a:ext cx="6196363" cy="37251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 name="Picture 2">
            <a:extLst>
              <a:ext uri="{FF2B5EF4-FFF2-40B4-BE49-F238E27FC236}">
                <a16:creationId xmlns:a16="http://schemas.microsoft.com/office/drawing/2014/main" id="{3EE1BC8E-0830-29C3-7B1D-0604000F013D}"/>
              </a:ext>
            </a:extLst>
          </p:cNvPr>
          <p:cNvPicPr>
            <a:picLocks noChangeAspect="1"/>
          </p:cNvPicPr>
          <p:nvPr/>
        </p:nvPicPr>
        <p:blipFill>
          <a:blip r:embed="rId3"/>
          <a:stretch>
            <a:fillRect/>
          </a:stretch>
        </p:blipFill>
        <p:spPr>
          <a:xfrm>
            <a:off x="2635937" y="1319212"/>
            <a:ext cx="3253806" cy="2109817"/>
          </a:xfrm>
          <a:prstGeom prst="rect">
            <a:avLst/>
          </a:prstGeom>
        </p:spPr>
      </p:pic>
      <p:pic>
        <p:nvPicPr>
          <p:cNvPr id="5" name="Picture 4" descr="A graph showing a chart&#10;&#10;AI-generated content may be incorrect.">
            <a:extLst>
              <a:ext uri="{FF2B5EF4-FFF2-40B4-BE49-F238E27FC236}">
                <a16:creationId xmlns:a16="http://schemas.microsoft.com/office/drawing/2014/main" id="{88B63945-A1F1-FE69-AC7E-386A8D0809C8}"/>
              </a:ext>
            </a:extLst>
          </p:cNvPr>
          <p:cNvPicPr>
            <a:picLocks noChangeAspect="1"/>
          </p:cNvPicPr>
          <p:nvPr/>
        </p:nvPicPr>
        <p:blipFill>
          <a:blip r:embed="rId4"/>
          <a:stretch>
            <a:fillRect/>
          </a:stretch>
        </p:blipFill>
        <p:spPr>
          <a:xfrm>
            <a:off x="5943587" y="2848924"/>
            <a:ext cx="2850515" cy="2107775"/>
          </a:xfrm>
          <a:prstGeom prst="rect">
            <a:avLst/>
          </a:prstGeom>
        </p:spPr>
      </p:pic>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1046</Words>
  <Application>Microsoft Office PowerPoint</Application>
  <PresentationFormat>On-screen Show (16:9)</PresentationFormat>
  <Paragraphs>35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Courier New</vt:lpstr>
      <vt:lpstr>Open Sans</vt:lpstr>
      <vt:lpstr>Arial</vt:lpstr>
      <vt:lpstr>PT Sans Narrow</vt:lpstr>
      <vt:lpstr>Tropic</vt:lpstr>
      <vt:lpstr>My ECE 157B/272B  Homework 4</vt:lpstr>
      <vt:lpstr>1. The provided code uses a "Replay Memory" to store the agent's experiences and learn from that. What is the purpose of the Replay Memory? Why is it important to use a Replay Memory instead of just learning from the agent's most recent experiences?</vt:lpstr>
      <vt:lpstr>2. Submit the hyperparameters used in your final model. Also make a note if you had other training attempts that didn't work out, though you are not required to submit their hyperparameters.</vt:lpstr>
      <vt:lpstr>3. Submit the training graphs for your final model. These should show the reward and durations achieved in each episode. If you had other training attempts that didn't work out, you may include their graphs as well, though you are not required to do so. Looking at your final model's training graph, Mark the eras where the model appears to have differing behaviors. (E.g. if its average is slowly increasing, then plateaus, or if it's smooth then starts bouncing up and down, sometimes failing.) About how many eras do you see? How long did it take the model to first really learn to play the game?</vt:lpstr>
      <vt:lpstr>4a. Review the videos of your agent playing the game. List behaviors that you see, and when they appear. (Strategies, mistakes...)</vt:lpstr>
      <vt:lpstr>4b. Review the videos of your agent playing the game. Does the agent eventually learn to play the game well, or is it too reckless or too cautious?</vt:lpstr>
      <vt:lpstr>4c. Review the videos of your agent playing the game. Do the appearance and disappearance of behaviors in the videos match the eras you marked in the training graph?</vt:lpstr>
      <vt:lpstr>5. Submit the evaluation duration and reward histograms of your final model, with their means marked. Does the model's policy appear to be consistent, or does it still struggle with the random starting conditions?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Edward Ding</dc:creator>
  <cp:lastModifiedBy>Edward Ding</cp:lastModifiedBy>
  <cp:revision>10</cp:revision>
  <dcterms:modified xsi:type="dcterms:W3CDTF">2025-03-12T22:04:23Z</dcterms:modified>
</cp:coreProperties>
</file>